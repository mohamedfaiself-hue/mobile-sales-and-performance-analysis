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51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807232"/>
            <a:ext cx="5669280" cy="1046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dirty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MOBILE SALES &amp;
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075575"/>
            <a:ext cx="53035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Interactive Power BI Dashboard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778770"/>
            <a:ext cx="54864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 business intelligence project for exploring mobile brands, launch trends,
pricing, market distribution and device specifications.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3822191"/>
            <a:ext cx="2011680" cy="310896"/>
          </a:xfrm>
          <a:prstGeom prst="round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944" y="3853079"/>
            <a:ext cx="201168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382985"/>
            <a:ext cx="5029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Prepared by: </a:t>
            </a:r>
            <a:r>
              <a:rPr lang="en-US" sz="15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Mohamed </a:t>
            </a:r>
            <a:r>
              <a:rPr lang="en-US" sz="1500" b="1" dirty="0" err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Baisel</a:t>
            </a:r>
            <a:r>
              <a:rPr lang="en-US" sz="1500" b="1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S</a:t>
            </a:r>
            <a:endParaRPr sz="1500" b="1" dirty="0">
              <a:solidFill>
                <a:srgbClr val="FFFF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4944" y="4772553"/>
            <a:ext cx="530352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Tools: Power BI • Power Query • DAX • 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10528" y="475488"/>
            <a:ext cx="5038344" cy="2862072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9" descr="Overview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75488"/>
            <a:ext cx="5056632" cy="28620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10528" y="3465576"/>
            <a:ext cx="2450592" cy="1810512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11" descr="Price Analysi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465576"/>
            <a:ext cx="2423160" cy="20081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98280" y="3465576"/>
            <a:ext cx="2450592" cy="1810512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 descr="Market Performanc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465576"/>
            <a:ext cx="2423160" cy="20081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37392" y="6153912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What the dashboard covers and what a viewer can 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53312"/>
            <a:ext cx="2011680" cy="114300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2104" y="1463040"/>
            <a:ext cx="17190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750517"/>
            <a:ext cx="171907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901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063264"/>
            <a:ext cx="1719072" cy="363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Models represented in the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1353312"/>
            <a:ext cx="2011680" cy="114300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90672" y="1463040"/>
            <a:ext cx="17190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1750517"/>
            <a:ext cx="171907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130552"/>
            <a:ext cx="17190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Brand-level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353312"/>
            <a:ext cx="2011680" cy="114300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49240" y="1463040"/>
            <a:ext cx="17190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Avg. India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750517"/>
            <a:ext cx="171907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₹50K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130552"/>
            <a:ext cx="17190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Dashboard KPI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1353312"/>
            <a:ext cx="2011680" cy="114300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07808" y="1463040"/>
            <a:ext cx="17190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Avg. 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1750517"/>
            <a:ext cx="171907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8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130552"/>
            <a:ext cx="17190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Typical memory level shown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20072" y="1353312"/>
            <a:ext cx="2011680" cy="114300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866376" y="1463040"/>
            <a:ext cx="17190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Avg. battery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66376" y="1750517"/>
            <a:ext cx="171907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2130552"/>
            <a:ext cx="171907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Dashboard KPI / capacity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835977"/>
            <a:ext cx="320040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Business questions addressed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246120"/>
            <a:ext cx="5669280" cy="205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E5F1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• How are mobile models distributed across brands and launch years?</a:t>
            </a:r>
          </a:p>
          <a:p>
            <a:pPr>
              <a:spcAft>
                <a:spcPts val="1000"/>
              </a:spcAft>
              <a:defRPr sz="1350">
                <a:solidFill>
                  <a:srgbClr val="F8E5F1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• How does India launch pricing vary by brand, year and price segment?</a:t>
            </a:r>
          </a:p>
          <a:p>
            <a:pPr>
              <a:spcAft>
                <a:spcPts val="1000"/>
              </a:spcAft>
              <a:defRPr sz="1350">
                <a:solidFill>
                  <a:srgbClr val="F8E5F1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• Which countries appear in the product dataset and how do price totals differ?</a:t>
            </a:r>
          </a:p>
          <a:p>
            <a:pPr>
              <a:spcAft>
                <a:spcPts val="1000"/>
              </a:spcAft>
              <a:defRPr sz="1350">
                <a:solidFill>
                  <a:srgbClr val="F8E5F1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• How are RAM, screen size, processor, battery and camera specifications distributed?</a:t>
            </a:r>
          </a:p>
          <a:p>
            <a:pPr>
              <a:spcAft>
                <a:spcPts val="1000"/>
              </a:spcAft>
              <a:defRPr sz="1350">
                <a:solidFill>
                  <a:srgbClr val="F8E5F1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• How can a user drill into a specific model and inspect its detailed specifications?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4848" y="2743200"/>
            <a:ext cx="4718303" cy="2679192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" name="Picture 27" descr="Overview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743200"/>
            <a:ext cx="4663440" cy="26791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Dashboard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Six analytical pages connected through navigation and interactive filters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063240" cy="1508760"/>
          </a:xfrm>
          <a:prstGeom prst="roundRect">
            <a:avLst/>
          </a:prstGeom>
          <a:solidFill>
            <a:srgbClr val="5B282D"/>
          </a:solidFill>
          <a:ln>
            <a:solidFill>
              <a:srgbClr val="85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554367"/>
            <a:ext cx="2697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10952"/>
            <a:ext cx="269748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High-level KPIs
Launch trend
Model launch by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17320"/>
            <a:ext cx="3063240" cy="1508760"/>
          </a:xfrm>
          <a:prstGeom prst="roundRect">
            <a:avLst/>
          </a:prstGeom>
          <a:solidFill>
            <a:srgbClr val="5B282D"/>
          </a:solidFill>
          <a:ln>
            <a:solidFill>
              <a:srgbClr val="85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25112" y="1554367"/>
            <a:ext cx="2697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Brand Trend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5112" y="2010952"/>
            <a:ext cx="269748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Brand model counts
Launch trend by year
Brand filtering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417320"/>
            <a:ext cx="3063240" cy="1508760"/>
          </a:xfrm>
          <a:prstGeom prst="roundRect">
            <a:avLst/>
          </a:prstGeom>
          <a:solidFill>
            <a:srgbClr val="5B282D"/>
          </a:solidFill>
          <a:ln>
            <a:solidFill>
              <a:srgbClr val="85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54112" y="1554367"/>
            <a:ext cx="2697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Price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010952"/>
            <a:ext cx="269748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Average India price
Price by year
Price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3063240" cy="1508760"/>
          </a:xfrm>
          <a:prstGeom prst="roundRect">
            <a:avLst/>
          </a:prstGeom>
          <a:solidFill>
            <a:srgbClr val="5B282D"/>
          </a:solidFill>
          <a:ln>
            <a:solidFill>
              <a:srgbClr val="85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" y="3566047"/>
            <a:ext cx="2697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Market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22631"/>
            <a:ext cx="269748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Launch-price table
Country distribution
Top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429000"/>
            <a:ext cx="3063240" cy="1508760"/>
          </a:xfrm>
          <a:prstGeom prst="roundRect">
            <a:avLst/>
          </a:prstGeom>
          <a:solidFill>
            <a:srgbClr val="5B282D"/>
          </a:solidFill>
          <a:ln>
            <a:solidFill>
              <a:srgbClr val="85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25112" y="3566047"/>
            <a:ext cx="2697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Specification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022631"/>
            <a:ext cx="269748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RAM &amp; screen size
Processor
Camera &amp; battery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429000"/>
            <a:ext cx="3063240" cy="1508760"/>
          </a:xfrm>
          <a:prstGeom prst="roundRect">
            <a:avLst/>
          </a:prstGeom>
          <a:solidFill>
            <a:srgbClr val="5B282D"/>
          </a:solidFill>
          <a:ln>
            <a:solidFill>
              <a:srgbClr val="854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54112" y="3566047"/>
            <a:ext cx="2697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Mobile Explorer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022631"/>
            <a:ext cx="269748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Model-level filters
Selected specifications
Detail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506248"/>
            <a:ext cx="20116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dirty="0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Interaction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5513832"/>
            <a:ext cx="8869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300" b="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sz="1300" b="0" dirty="0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Slicers </a:t>
            </a:r>
            <a:r>
              <a:rPr sz="1300" b="0" dirty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+ drill/filter interactions + page navigation + model-level exploration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1. Overview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Executive view for quickly understanding the dataset and launch activity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71016"/>
            <a:ext cx="7141464" cy="4041648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Overview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71016"/>
            <a:ext cx="7114032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0" y="1400369"/>
            <a:ext cx="292608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What to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856231"/>
            <a:ext cx="3429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dashboard begins with five KPI cards: model count, brand count, average India price, RAM and battery.</a:t>
            </a:r>
          </a:p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launch-year visual shows how the number of models varies by year.</a:t>
            </a:r>
          </a:p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Brand, launch year and processor filters allow the overview to be narrowed to a specific slice.</a:t>
            </a:r>
          </a:p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page is designed as the starting point before moving into brand, price, market or specification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965192"/>
            <a:ext cx="1600200" cy="932688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56448" y="5074920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5362397"/>
            <a:ext cx="130759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901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965192"/>
            <a:ext cx="1600200" cy="932688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30384" y="5074920"/>
            <a:ext cx="13075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Brands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0384" y="5362397"/>
            <a:ext cx="130759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2. Brand Trend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Brand portfolio size and model-launch patterns across years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71016"/>
            <a:ext cx="7324344" cy="4151376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Brand Tre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9304"/>
            <a:ext cx="7324344" cy="43169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65008" y="1414085"/>
            <a:ext cx="329184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Visible dashboard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56231"/>
            <a:ext cx="338328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Oppo has the largest model count visible in the brand ranking, followed by Apple, Honor, Samsung and Vivo.</a:t>
            </a:r>
          </a:p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line chart compares launch activity for multiple brands across the available years.</a:t>
            </a:r>
          </a:p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combination of a bar chart and time trend separates portfolio breadth from launch timing.</a:t>
            </a:r>
          </a:p>
          <a:p>
            <a:pPr>
              <a:spcAft>
                <a:spcPts val="1000"/>
              </a:spcAft>
              <a:defRPr sz="125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Brand filtering can be used to move from the overall market view to an individual company.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4956048"/>
            <a:ext cx="1572768" cy="932688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1312" y="5065776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Oppo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5353253"/>
            <a:ext cx="12801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115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4956048"/>
            <a:ext cx="1572768" cy="932688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30384" y="5065776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Apple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0384" y="5353253"/>
            <a:ext cx="12801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3. Price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Understanding price positioning by brand, year, country and segment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71016"/>
            <a:ext cx="7324344" cy="4151376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Price Analysi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71016"/>
            <a:ext cx="729691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65008" y="1283280"/>
            <a:ext cx="333756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Key observations from the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1847088"/>
            <a:ext cx="3383280" cy="3025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1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overall KPI shows an average India price of approximately ₹50K.</a:t>
            </a:r>
          </a:p>
          <a:p>
            <a:pPr>
              <a:spcAft>
                <a:spcPts val="1000"/>
              </a:spcAft>
              <a:defRPr sz="121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brand comparison shows substantial differences in average India launch price across the 19 brands.</a:t>
            </a:r>
          </a:p>
          <a:p>
            <a:pPr>
              <a:spcAft>
                <a:spcPts val="1000"/>
              </a:spcAft>
              <a:defRPr sz="121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year trend provides a view of how aggregated launch pricing changes across years.</a:t>
            </a:r>
          </a:p>
          <a:p>
            <a:pPr>
              <a:spcAft>
                <a:spcPts val="1000"/>
              </a:spcAft>
              <a:defRPr sz="121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price-segment donut groups models into four ranges: Below 15K, 15K–30K, 30K–50K and Above 50K.</a:t>
            </a:r>
          </a:p>
          <a:p>
            <a:pPr>
              <a:spcAft>
                <a:spcPts val="1000"/>
              </a:spcAft>
              <a:defRPr sz="121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Country totals are displayed separately, helping identify how the dataset's price records are distributed.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5321808"/>
            <a:ext cx="1572768" cy="804672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11312" y="5431536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Avg. India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5719013"/>
            <a:ext cx="12801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₹50K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5321808"/>
            <a:ext cx="1572768" cy="804672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30384" y="5431536"/>
            <a:ext cx="1280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Price ranges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0384" y="5719013"/>
            <a:ext cx="12801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4. Market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Combining detailed product records, country distribution and top launch-price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71016"/>
            <a:ext cx="7370064" cy="4169663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Market Performanc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71015"/>
            <a:ext cx="7370064" cy="4169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400369"/>
            <a:ext cx="315468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How to explain this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47088"/>
            <a:ext cx="3246120" cy="2748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3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central table exposes row-level product information: company, model, country, price, India launch price and launch year.</a:t>
            </a:r>
          </a:p>
          <a:p>
            <a:pPr>
              <a:spcAft>
                <a:spcPts val="1000"/>
              </a:spcAft>
              <a:defRPr sz="123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right-side ranking highlights models with the highest aggregated India launch-price values in the current view.</a:t>
            </a:r>
          </a:p>
          <a:p>
            <a:pPr>
              <a:spcAft>
                <a:spcPts val="1000"/>
              </a:spcAft>
              <a:defRPr sz="123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The donut shows the distribution of country records across China, Dubai, Pakistan, USA and blank values.</a:t>
            </a:r>
          </a:p>
          <a:p>
            <a:pPr>
              <a:spcAft>
                <a:spcPts val="1000"/>
              </a:spcAft>
              <a:defRPr sz="123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This page connects granular records with summary visuals, making it useful for drill-down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974446"/>
            <a:ext cx="29718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Important presentation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5272516"/>
            <a:ext cx="324612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 dirty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Price totals can reflect </a:t>
            </a:r>
            <a:r>
              <a:rPr lang="en-US" sz="1050" b="0" dirty="0" smtClean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1050" b="0" dirty="0" smtClean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repeated </a:t>
            </a:r>
            <a:r>
              <a:rPr sz="1050" b="0" dirty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country/model records, so describe them as dataset-level aggregates rather than direct sales revenue unless a sales-volume field is 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5. Specification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Comparing device hardware characteristics at portfolio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52728"/>
            <a:ext cx="5541264" cy="3136392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Specification 1.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5541264" cy="313639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81928" y="1252728"/>
            <a:ext cx="5266944" cy="3136392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 descr="Specification 1.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252728"/>
            <a:ext cx="5285232" cy="3136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4608463"/>
            <a:ext cx="33776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Specification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01768"/>
            <a:ext cx="5257800" cy="150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7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RAM distribution identifies the most common memory configurations.</a:t>
            </a:r>
          </a:p>
          <a:p>
            <a:pPr>
              <a:spcAft>
                <a:spcPts val="1000"/>
              </a:spcAft>
              <a:defRPr sz="117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Screen-size distribution shows the spread of display sizes.</a:t>
            </a:r>
          </a:p>
          <a:p>
            <a:pPr>
              <a:spcAft>
                <a:spcPts val="1000"/>
              </a:spcAft>
              <a:defRPr sz="117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Processor distribution provides a portfolio-level view of processor families.</a:t>
            </a:r>
          </a:p>
          <a:p>
            <a:pPr>
              <a:spcAft>
                <a:spcPts val="1000"/>
              </a:spcAft>
              <a:defRPr sz="117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Front and back camera visuals show the frequency of camera configurations.</a:t>
            </a:r>
          </a:p>
          <a:p>
            <a:pPr>
              <a:spcAft>
                <a:spcPts val="1000"/>
              </a:spcAft>
              <a:defRPr sz="117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Battery capacity adds another hardware dimension for model comparison.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4608463"/>
            <a:ext cx="16459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Detail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5191559"/>
            <a:ext cx="48006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The second specification page provides a searchable model-level table with company, model, RAM, cameras, processor and battery fields.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dirty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6. Mobile Explorer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Interactive model-level exploration for focused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71016"/>
            <a:ext cx="7370064" cy="4169663"/>
          </a:xfrm>
          <a:prstGeom prst="roundRect">
            <a:avLst/>
          </a:prstGeom>
          <a:solidFill>
            <a:srgbClr val="2B1316"/>
          </a:solidFill>
          <a:ln>
            <a:solidFill>
              <a:srgbClr val="74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Mobile Explor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71016"/>
            <a:ext cx="7342632" cy="4379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8160" y="1400369"/>
            <a:ext cx="3108960" cy="3539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Example user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56231"/>
            <a:ext cx="3246120" cy="1855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8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Select a model from the Model Name slicer.</a:t>
            </a:r>
          </a:p>
          <a:p>
            <a:pPr>
              <a:spcAft>
                <a:spcPts val="1000"/>
              </a:spcAft>
              <a:defRPr sz="128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Use launch year, screen size or battery capacity to narrow the selection.</a:t>
            </a:r>
          </a:p>
          <a:p>
            <a:pPr>
              <a:spcAft>
                <a:spcPts val="1000"/>
              </a:spcAft>
              <a:defRPr sz="128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Read the selected model's launch year, front camera and back camera KPIs.</a:t>
            </a:r>
          </a:p>
          <a:p>
            <a:pPr>
              <a:spcAft>
                <a:spcPts val="1000"/>
              </a:spcAft>
              <a:defRPr sz="128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Use the detail table to inspect the underlying product attributes.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4511002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934366"/>
            <a:ext cx="3246120" cy="7017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2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It turns the dashboard from a static report into an interactive product exploration tool.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Key Insights to Present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 concise story connecting the dashboard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298448"/>
            <a:ext cx="5257800" cy="1298448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418879"/>
            <a:ext cx="4754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Portfolio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89126"/>
            <a:ext cx="48006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The dashboard covers 901 mobile models across 19 brands, enabling broad brand and product comparisons.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298448"/>
            <a:ext cx="5257800" cy="1298448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19672" y="1418879"/>
            <a:ext cx="4754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Brand breadth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89126"/>
            <a:ext cx="48006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Oppo has the highest visible model count in the brand chart, while several other major brands form the next tier of portfolio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898648"/>
            <a:ext cx="5257800" cy="1298448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3019080"/>
            <a:ext cx="4754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Price diversity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89326"/>
            <a:ext cx="48006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Average India launch prices vary widely by brand, showing distinct price-positioning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2898648"/>
            <a:ext cx="5257800" cy="1298448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2" y="3019080"/>
            <a:ext cx="4754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Launch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489326"/>
            <a:ext cx="48006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The launch-year trend reveals that model introductions are not evenly distributed across years.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498848"/>
            <a:ext cx="5257800" cy="1298448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4619280"/>
            <a:ext cx="4754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Specification mix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089526"/>
            <a:ext cx="48006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RAM, screen size, processor, battery and camera configurations provide multiple dimensions for product comparison.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498848"/>
            <a:ext cx="5257800" cy="1298448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19672" y="4619280"/>
            <a:ext cx="47548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Interactive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5089526"/>
            <a:ext cx="48006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Slicers and model-level exploration let users move from market-level summaries to individual devices.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Technical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How the Power BI solution was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389888"/>
            <a:ext cx="3246120" cy="1600200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530058"/>
            <a:ext cx="28346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Data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20096"/>
            <a:ext cx="28346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Power Query
Cleaning &amp; shaping
Column transformations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389888"/>
            <a:ext cx="3246120" cy="1600200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90872" y="1530058"/>
            <a:ext cx="28346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Data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20096"/>
            <a:ext cx="28346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Relationships
Dimensions &amp; measures
Structured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02752" y="1389888"/>
            <a:ext cx="3246120" cy="1600200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5632" y="1530058"/>
            <a:ext cx="28346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DAX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020096"/>
            <a:ext cx="28346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KPIs
Average/aggregate measures
Filter-aware calculations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47288"/>
            <a:ext cx="3246120" cy="1600200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" y="3587458"/>
            <a:ext cx="28346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Visual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77496"/>
            <a:ext cx="28346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Bar &amp; line charts
Donut charts
Tables &amp; KPI cards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07992" y="3447288"/>
            <a:ext cx="3246120" cy="1600200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90872" y="3587458"/>
            <a:ext cx="28346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UX /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077496"/>
            <a:ext cx="28346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Buttons
Page navigation
Slicers &amp; interactions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3447288"/>
            <a:ext cx="3246120" cy="1600200"/>
          </a:xfrm>
          <a:prstGeom prst="roundRect">
            <a:avLst/>
          </a:prstGeom>
          <a:solidFill>
            <a:srgbClr val="5B282D"/>
          </a:solidFill>
          <a:ln>
            <a:solidFill>
              <a:srgbClr val="7D4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85632" y="3587458"/>
            <a:ext cx="283464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Drill-down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077496"/>
            <a:ext cx="283464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Model explorer
Detailed specification table
Focused filtering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09449"/>
            <a:ext cx="1078992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t>Design principle: summarize first → compare next → drill into the individual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859536"/>
            <a:ext cx="1051560" cy="50292"/>
          </a:xfrm>
          <a:prstGeom prst="rect">
            <a:avLst/>
          </a:prstGeom>
          <a:solidFill>
            <a:srgbClr val="DB4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1792" y="980916"/>
            <a:ext cx="10881360" cy="269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From raw mobile product records to an interactive analytical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90888"/>
            <a:ext cx="1033272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The project demonstrates how Power BI can transform a large mobile-product dataset into a structured decision-support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8549640" cy="175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A single landing page provides the overall business context.</a:t>
            </a:r>
          </a:p>
          <a:p>
            <a:pPr>
              <a:spcAft>
                <a:spcPts val="1000"/>
              </a:spcAft>
              <a:defRPr sz="150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Brand and launch analysis explains portfolio patterns over time.</a:t>
            </a:r>
          </a:p>
          <a:p>
            <a:pPr>
              <a:spcAft>
                <a:spcPts val="1000"/>
              </a:spcAft>
              <a:defRPr sz="150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Price analysis provides a view of positioning, price ranges and country-level aggregates.</a:t>
            </a:r>
          </a:p>
          <a:p>
            <a:pPr>
              <a:spcAft>
                <a:spcPts val="1000"/>
              </a:spcAft>
              <a:defRPr sz="150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Specification analysis supports hardware comparison across multiple attributes.</a:t>
            </a:r>
          </a:p>
          <a:p>
            <a:pPr>
              <a:spcAft>
                <a:spcPts val="1000"/>
              </a:spcAft>
              <a:defRPr sz="1500">
                <a:solidFill>
                  <a:srgbClr val="F8E5F1"/>
                </a:solidFill>
                <a:latin typeface="Aptos"/>
              </a:defRPr>
            </a:pPr>
            <a:r>
              <a:rPr>
                <a:latin typeface="Times New Roman" pitchFamily="18" charset="0"/>
                <a:cs typeface="Times New Roman" pitchFamily="18" charset="0"/>
              </a:rPr>
              <a:t>• Mobile Explorer enables users to move from high-level patterns to individual model details.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892040"/>
            <a:ext cx="2331720" cy="96012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75104" y="5001768"/>
            <a:ext cx="2039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Models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5104" y="5289245"/>
            <a:ext cx="203911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901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19472" y="4892040"/>
            <a:ext cx="2331720" cy="96012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65776" y="5001768"/>
            <a:ext cx="2039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Brands covered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5289245"/>
            <a:ext cx="203911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4892040"/>
            <a:ext cx="2331720" cy="960120"/>
          </a:xfrm>
          <a:prstGeom prst="roundRect">
            <a:avLst/>
          </a:prstGeom>
          <a:solidFill>
            <a:srgbClr val="5B282D"/>
          </a:solidFill>
          <a:ln>
            <a:solidFill>
              <a:srgbClr val="7C4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56448" y="5001768"/>
            <a:ext cx="20391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Avg. India 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289245"/>
            <a:ext cx="2039112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8E5F1"/>
                </a:solidFill>
                <a:latin typeface="Times New Roman" pitchFamily="18" charset="0"/>
                <a:cs typeface="Times New Roman" pitchFamily="18" charset="0"/>
              </a:rPr>
              <a:t>₹50K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33838"/>
            <a:ext cx="1218895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DB4FBE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08687"/>
            <a:ext cx="89611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Mobile Sales &amp; Performance Analysis • Power BI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92240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D6BEC8"/>
                </a:solidFill>
                <a:latin typeface="Times New Roman" pitchFamily="18" charset="0"/>
                <a:cs typeface="Times New Roman" pitchFamily="18" charset="0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1206</Words>
  <Application>Microsoft Office PowerPoint</Application>
  <PresentationFormat>Custom</PresentationFormat>
  <Paragraphs>173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Akshaya Akshu</dc:creator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2026-09-20T16:09:00Z</dcterms:modified>
</cp:coreProperties>
</file>